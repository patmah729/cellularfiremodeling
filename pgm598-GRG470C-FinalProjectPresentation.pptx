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31385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781a276a1_0_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9781a276a1_0_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9781a276a1_0_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781a276a1_0_1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781a276a1_0_1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781a276a1_0_1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781a276a1_0_19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781a276a1_0_19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781a276a1_0_19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633dbe241_0_0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633dbe241_0_0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633dbe241_0_0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645aa99de_0_25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645aa99de_0_25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645aa99de_0_25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33dbe241_0_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633dbe241_0_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633dbe241_0_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645aa99de_0_0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645aa99de_0_0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645aa99de_0_0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0521ed98d_2_1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0521ed98d_2_1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0521ed98d_2_1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45aa99de_0_1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45aa99de_0_1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645aa99de_0_1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45aa99de_0_1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645aa99de_0_1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645aa99de_0_1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0521ed98d_2_31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0521ed98d_2_31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0521ed98d_2_31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D19888"/>
              </a:buClr>
              <a:buSzPts val="1800"/>
              <a:buNone/>
              <a:defRPr sz="1800">
                <a:solidFill>
                  <a:srgbClr val="D19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D19888"/>
              </a:buClr>
              <a:buSzPts val="1600"/>
              <a:buNone/>
              <a:defRPr sz="1600">
                <a:solidFill>
                  <a:srgbClr val="D19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D19888"/>
              </a:buClr>
              <a:buSzPts val="2800"/>
              <a:buNone/>
              <a:defRPr>
                <a:solidFill>
                  <a:srgbClr val="D19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D19888"/>
              </a:buClr>
              <a:buSzPts val="2400"/>
              <a:buNone/>
              <a:defRPr>
                <a:solidFill>
                  <a:srgbClr val="D19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82496"/>
            <a:ext cx="40386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48200" y="1682496"/>
            <a:ext cx="40386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20688" y="641510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575050" y="920884"/>
            <a:ext cx="51117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20688" y="1601629"/>
            <a:ext cx="3008400" cy="3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1792288" y="3829050"/>
            <a:ext cx="5486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1792288" y="685800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792288" y="4254817"/>
            <a:ext cx="54864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79972"/>
            <a:ext cx="82296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Patmah729/CellularFireModeling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57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8"/>
          <p:cNvCxnSpPr/>
          <p:nvPr/>
        </p:nvCxnSpPr>
        <p:spPr>
          <a:xfrm>
            <a:off x="628650" y="3105150"/>
            <a:ext cx="561975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8"/>
          <p:cNvSpPr txBox="1"/>
          <p:nvPr/>
        </p:nvSpPr>
        <p:spPr>
          <a:xfrm>
            <a:off x="548640" y="4114800"/>
            <a:ext cx="788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Patrick Maher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</a:rPr>
              <a:t>Undergraduate Student</a:t>
            </a:r>
            <a:r>
              <a:rPr b="1" i="0" lang="en-US" sz="1050" u="none" cap="none" strike="noStrike">
                <a:solidFill>
                  <a:schemeClr val="lt1"/>
                </a:solidFill>
              </a:rPr>
              <a:t>, The University of Texas at Austin</a:t>
            </a:r>
            <a:endParaRPr b="1" i="0" sz="1050" u="none" cap="none" strike="noStrike">
              <a:solidFill>
                <a:schemeClr val="lt1"/>
              </a:solidFill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548640" y="457200"/>
            <a:ext cx="7828444" cy="389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April </a:t>
            </a: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r>
            <a:endParaRPr b="1" i="0" sz="12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502920" y="1200150"/>
            <a:ext cx="7886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Modeling Fire Using a Convolution Algorithm within ArcGIS Pro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548640" y="3333749"/>
            <a:ext cx="788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Implementation of a Directional Cellular Automata within ArcGIS Pro using Python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699" y="320040"/>
            <a:ext cx="187739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Wildfire Risk</a:t>
            </a:r>
            <a:endParaRPr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Steadily increasing everywhere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Rapidly increasing in the American Southwest, including Texas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/>
              <a:t>Becomes increasingly important as rangelands are turned into subdivisions at the edge of the human-wildland interface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 Modeling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Assists in wildfire mitigation by predicting fire spread in undisturbed conditions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Model outputs are useful for projecting fire risk for insurance purposes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Major wildfire modeling is not integrated with industry GIS technology</a:t>
            </a:r>
            <a:endParaRPr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Even simple models within GIS are useful and increase access to model-driven decisionmaking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Methodology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57200" y="1682500"/>
            <a:ext cx="8229600" cy="162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300"/>
              <a:t>A simplified version of the Rothermel fire spread equation is implemented</a:t>
            </a:r>
            <a:endParaRPr sz="23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300"/>
              <a:t>Fire spread rate is calculated at every neighbor of every burning cell using the below equation.</a:t>
            </a:r>
            <a:endParaRPr sz="2300"/>
          </a:p>
        </p:txBody>
      </p:sp>
      <p:sp>
        <p:nvSpPr>
          <p:cNvPr id="65" name="Google Shape;65;p11"/>
          <p:cNvSpPr txBox="1"/>
          <p:nvPr/>
        </p:nvSpPr>
        <p:spPr>
          <a:xfrm>
            <a:off x="5296575" y="3304300"/>
            <a:ext cx="29763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R = Fire Spread Potential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Wdir = Wind direction influence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IR = Fire Intensity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ɸw = Directionless wind speed multiplier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ɸA/S = Aspect influence divided by slope influence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⍴b = Fuel sink </a:t>
            </a:r>
            <a:r>
              <a:rPr lang="en-US" sz="3200">
                <a:solidFill>
                  <a:schemeClr val="lt2"/>
                </a:solidFill>
              </a:rPr>
              <a:t>flammability (fuel density)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(1-D) = Fuel Drying Length</a:t>
            </a:r>
            <a:endParaRPr sz="3200">
              <a:solidFill>
                <a:schemeClr val="lt2"/>
              </a:solidFill>
            </a:endParaRPr>
          </a:p>
        </p:txBody>
      </p:sp>
      <p:pic>
        <p:nvPicPr>
          <p:cNvPr id="66" name="Google Shape;6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358700"/>
            <a:ext cx="4098128" cy="15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60"/>
              <a:t>Internal Data Processing Steps</a:t>
            </a:r>
            <a:endParaRPr sz="3560"/>
          </a:p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Terrain Analysis Functions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Slope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Aspect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Reclassification of Anderson 13 Fuel Model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Burn-Intensity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Required Ignition Energy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 title="modeledmap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904" y="0"/>
            <a:ext cx="63061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model is somewhat accurate at predicting early </a:t>
            </a:r>
            <a:r>
              <a:rPr lang="en-US"/>
              <a:t>spread</a:t>
            </a:r>
            <a:r>
              <a:rPr lang="en-US"/>
              <a:t> of a historic fire, but overestimates fire spread, especially in longer assessments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Accuracy Assessment Indicates: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Kappa Score of 0.653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Type 1 Fire Classification Accuracy of 68%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Type 2 Fire Classification Accuracy of 92%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48615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n-US" sz="2700"/>
              <a:t>Grid-based spread models handle diagonal spread poorly.</a:t>
            </a:r>
            <a:endParaRPr sz="2700"/>
          </a:p>
          <a:p>
            <a:pPr indent="-34861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700"/>
              <a:t>Potential for o</a:t>
            </a:r>
            <a:r>
              <a:rPr lang="en-US" sz="2700"/>
              <a:t>ver</a:t>
            </a:r>
            <a:r>
              <a:rPr lang="en-US" sz="2700"/>
              <a:t>-calibration of model to study area</a:t>
            </a:r>
            <a:endParaRPr sz="2700"/>
          </a:p>
          <a:p>
            <a:pPr indent="-34861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700"/>
              <a:t>Poor data for observed fire spread limits the ability to test model accuracy</a:t>
            </a:r>
            <a:endParaRPr sz="2700"/>
          </a:p>
          <a:p>
            <a:pPr indent="-34861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700"/>
              <a:t>Simplification of heat fluxes into spread probabilities is unrealistic</a:t>
            </a:r>
            <a:endParaRPr sz="2700"/>
          </a:p>
          <a:p>
            <a:pPr indent="-34861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700"/>
              <a:t>Computationally expensive</a:t>
            </a:r>
            <a:endParaRPr sz="2700"/>
          </a:p>
          <a:p>
            <a:pPr indent="-348615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ct val="100000"/>
              <a:buChar char="•"/>
            </a:pPr>
            <a:r>
              <a:rPr lang="en-US" sz="2700"/>
              <a:t>Wind is a global parameter and doesn’t interact with terrain</a:t>
            </a:r>
            <a:endParaRPr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57200" y="1682496"/>
            <a:ext cx="8229600" cy="282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The cellular model as produced is a useful baseline tool for predicting wildfire spread and is reasonably accurate.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Additional work needs to be done calibrating parameter values and transition rules to increase model accuracy.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300"/>
              <a:buChar char="•"/>
            </a:pPr>
            <a:r>
              <a:rPr lang="en-US" sz="2300"/>
              <a:t>Supplemental functions, including the ability to resume a model and automatically create output maps should be added to increase the model’s usefulness.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457200" y="1488625"/>
            <a:ext cx="8229600" cy="310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1. Alexander, M., &amp; Cruz, M. (2019). A rule of thumb for estimating a wildfires’s forward spread rate.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2. Anderson, H. E. (1982). Aids to determining fuel models for estimating fire behavior (INT-GTR-122; p. INT-GTR-122). U.S. Department of Agriculture, Forest Service, Intermountain Forest and Range Experiment Station. https://doi.org/10.2737/INT-GTR-122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3. Andrews, P. L. (2018). The Rothermel surface fire spread model and associated developments: A comprehensive explanation (RMRS-GTR-371; p. RMRS-GTR-371). U.S. Department of Agriculture, Forest Service, Rocky Mountain Research Station. https://doi.org/10.2737/RMRS-GTR-371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4. Baranovskiy, N. V., &amp; Kirienko, V. A. (2022). Forest Fuel Drying, Pyrolysis and Ignition Processes during Forest Fire: A Review. Processes, 10(1). https://doi.org/10.3390/pr10010089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5. Brian L Tolk (CTR), Inga P La Puma, Daryn J Dockter (CTR), Charley M Martin, Paul F Bourget (CTR), Sean D Beverly, Eva L Soluk, Deborah Lissfelt (CTR), Sofronio C Propios (CTR), Lucas J Porter (CTR), Erica J Degaga, Tobin Smail (CTR), &amp; Jacob G Casey (CTR). (n.d.). LANDFIRE 2022 (230) Update [Dataset]. U.S. Geological Survey. https://doi.org/10.5066/P974JF8W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6. Grishin, A. M., Zima, V. P., Kuznetsov, V. T., &amp; Skorik, A. I. (2002). Ignition of Combustible Forest Materials by a Radiant Energy Flux. Combustion, Explosion and Shock Waves, 38(1), 24–29. https://doi.org/10.1023/A:1014097631884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7. McAllister, S., Grenfell, I., Hadlow, A., Jolly, W. M., Finney, M., &amp; Cohen, J. (2012). Piloted ignition of live forest fuels. Fire Safety Journal. 51: 133-142., 133–142. https://doi.org/10.1016/j.firesaf.2012.04.001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8. Mindykowski, P., Fuentes, A., Consalvi, J. L., &amp; Porterie, B. (2011). Piloted ignition of wildland fuels. Fire Safety Journal, Forest Fires, 46(1), 34–40. https://doi.org/10.1016/j.firesaf.2010.09.003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9. Xu, H., Zlatanova, S., Liang, R., &amp; Canbulat, I. (2025). Generative AI as a Pillar for Predicting 2D and 3D Wildfire Spread: Beyond Physics-Based Models and Traditional Deep Learning. Fire, 8(8). https://doi.org/10.3390/fire8080293</a:t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1000"/>
              <a:t>10. Xu, Y., Li, D., Ma, H., Lin, R., &amp; Zhang, F. (2022). Modeling Forest Fire Spread Using Machine Learning-Based Cellular Automata in a GIS Environment. Forests, 13(12). https://doi.org/10.3390/f13121974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792288" y="4427775"/>
            <a:ext cx="5486400" cy="4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it yourself!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Github Repository</a:t>
            </a:r>
            <a:r>
              <a:rPr lang="en-US"/>
              <a:t>)</a:t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5675" y="791925"/>
            <a:ext cx="3559650" cy="35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200" y="152400"/>
            <a:ext cx="4168052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67550" y="152550"/>
            <a:ext cx="4082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Toolbox User Interface</a:t>
            </a:r>
            <a:endParaRPr sz="3200">
              <a:solidFill>
                <a:schemeClr val="lt2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30425"/>
            <a:ext cx="1513075" cy="15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67550" y="1284750"/>
            <a:ext cx="42210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2"/>
                </a:solidFill>
              </a:rPr>
              <a:t>Required data: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AutoNum type="arabicPeriod"/>
            </a:pPr>
            <a:r>
              <a:rPr lang="en-US" sz="1600">
                <a:solidFill>
                  <a:schemeClr val="lt2"/>
                </a:solidFill>
              </a:rPr>
              <a:t>DEM Elevation Dataset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AutoNum type="arabicPeriod"/>
            </a:pPr>
            <a:r>
              <a:rPr lang="en-US" sz="1600">
                <a:solidFill>
                  <a:schemeClr val="lt2"/>
                </a:solidFill>
              </a:rPr>
              <a:t>LANDFIRE Anderson13 Surface Fuel Model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AutoNum type="arabicPeriod"/>
            </a:pPr>
            <a:r>
              <a:rPr lang="en-US" sz="1600">
                <a:solidFill>
                  <a:schemeClr val="lt2"/>
                </a:solidFill>
              </a:rPr>
              <a:t>Ignition Points (User Input)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2"/>
                </a:solidFill>
              </a:rPr>
              <a:t>Nearly all data preprocessing is handled by the toolbox, it is essentially plug and play.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605400" y="3630427"/>
            <a:ext cx="2998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To install:</a:t>
            </a:r>
            <a:endParaRPr sz="3200">
              <a:solidFill>
                <a:schemeClr val="lt2"/>
              </a:solidFill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-US" sz="3200">
                <a:solidFill>
                  <a:schemeClr val="lt2"/>
                </a:solidFill>
              </a:rPr>
              <a:t>Download ArcAutoFire-v1.0.zip from releases and unzip folder</a:t>
            </a:r>
            <a:endParaRPr sz="3200">
              <a:solidFill>
                <a:schemeClr val="lt2"/>
              </a:solidFill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-US" sz="3200">
                <a:solidFill>
                  <a:schemeClr val="lt2"/>
                </a:solidFill>
              </a:rPr>
              <a:t>In ArcGIS’s Catalog pane, right click on the toolboxes folder and </a:t>
            </a:r>
            <a:r>
              <a:rPr lang="en-US" sz="3200">
                <a:solidFill>
                  <a:schemeClr val="lt2"/>
                </a:solidFill>
              </a:rPr>
              <a:t>click “Add Toolbox”</a:t>
            </a:r>
            <a:endParaRPr sz="3200">
              <a:solidFill>
                <a:schemeClr val="lt2"/>
              </a:solidFill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-US" sz="3200">
                <a:solidFill>
                  <a:schemeClr val="lt2"/>
                </a:solidFill>
              </a:rPr>
              <a:t>Select ArcAutoFire.pyt</a:t>
            </a:r>
            <a:endParaRPr sz="3200">
              <a:solidFill>
                <a:schemeClr val="lt2"/>
              </a:solidFill>
            </a:endParaRPr>
          </a:p>
          <a:p>
            <a:pPr indent="-29464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-US" sz="3200">
                <a:solidFill>
                  <a:schemeClr val="lt2"/>
                </a:solidFill>
              </a:rPr>
              <a:t>That’s it!</a:t>
            </a:r>
            <a:endParaRPr sz="3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